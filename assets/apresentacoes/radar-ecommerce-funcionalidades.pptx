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2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D9498-C015-8AE9-B5D1-80668BA58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EB851-8D17-33DF-FE78-2F0780068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EF6528-F6BD-D170-279E-16A278D0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11EB21-D9AA-0C48-0E61-2FF99C78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56872A-BD90-BF35-D33D-F30E0CCA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73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9B29E-1109-650F-A1F3-7B8A24E6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6DA58-3131-01A1-9766-943798A90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50FDDB-E297-82AF-C194-70749E79B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7B617B-A331-54B1-93DF-7F5300346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CAF4AB-FA48-D95D-2752-2A809600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16208-7163-3D8C-B6B4-40FA5D132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2233B4-1D13-0026-FAC4-6180CAEDA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AB7DBA-2164-D7D4-5F19-43C7F565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319344-F5DB-4BA7-F59E-D2B8AEB0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78A54-EFDF-13D1-BD75-463121BE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6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F78E3-0854-DD9A-198C-E2AD628F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2C123-D3CB-132D-FB5C-D6F6682ED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C25B87-C6D9-AB30-ACA2-3B4DA1867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E7C208-8CB9-9B86-18F3-D8B8D456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C97CF65-C18E-3AEA-899B-2F333016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45AFAED-23D3-7257-1B59-48E6463A4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20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16325-0202-0D66-F71D-359A790C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A85036-BCC6-E23F-02A5-858D7795B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7F6CCC-4E3B-20EB-3D1D-D94672313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BDE388-63C7-A53C-B891-67368A6EB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95247A-941F-BCD7-00A3-0B1499BD6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023C87-8BE9-ADF9-5834-4DE9B7A4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6FBD11-56AF-9D62-190C-B963DA7F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A3498C-E13E-C0E5-B29A-87A46AE65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7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7E010-A8F3-52DB-7F03-8869A29A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EC36E2-8A7E-3F04-995B-D07E4AC79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619BEF-15AF-DA5A-8042-BDF9F6AA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C461F8-F726-C0AE-3DA4-8D470B46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0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00E5EE-05C8-2CC5-123D-34C44869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0DDB3B-5D0E-1AF3-E9DB-8A0B2B21A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E1D0AB-7441-6792-379B-387E843F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55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706A24-1436-DE37-8E98-69BB36599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DFF893-8465-CDB9-5534-6D4415684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97AED2-1DCF-8EF2-D8E0-66B1E2D56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93AFCE-B567-85A6-0626-4BFD7C5A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41ECFC-4518-7BD9-2881-8A760540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79E2A4-DA71-F9C3-97B9-A0D505FF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6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5C1D5-2B33-4698-CBD7-EC8E9B25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A39A8B-950A-339C-1DF6-61804B0FD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2A85B9-1D12-CB40-D60F-F5978A60A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2CAD57-A0D3-5E18-B378-5E2831B7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B7C56A-62ED-9D7A-5858-2321CDB21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53D8F2-7555-4829-C62B-151AFC6B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8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D8D53-E418-2CC6-6A71-2BD2D3ED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46186E-AB58-8616-6D32-41AF6E676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46B18A-74A4-D444-3C6E-845384DE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100BEB-A54B-97AF-80A3-38A18DF1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D7C44-A4F6-091F-4595-DE35BA66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9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A083BB-38DF-3AFA-6BC7-98FC48EE1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D26BAF-ED1A-D733-22C0-BA39EC36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ADACEA-1A26-71BA-46EB-8CEB31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C75921-48D0-1D7A-827E-0E2F9452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73A67-F3F3-637E-02B8-DA325CDF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2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A5F5BD1-76BC-A881-9920-517719B6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5666E5-B8A1-B2B7-A5E1-041FC3B28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14102C-BA8C-8DD9-8BC1-EAED5F359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ED9FF-9DC4-4DB5-BFB4-4F84B3AEB69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B6B19-0063-F0FF-E65A-C7D42F069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240CD-0261-6CEE-1104-3147D73B9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1CB77-72EA-40D9-9BDC-DB19118B9C0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6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89C688-7E3E-34A1-BB96-F67100F694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C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8CDD07-C229-81A1-C817-992261ED4FF9}"/>
              </a:ext>
            </a:extLst>
          </p:cNvPr>
          <p:cNvSpPr txBox="1"/>
          <p:nvPr/>
        </p:nvSpPr>
        <p:spPr>
          <a:xfrm>
            <a:off x="1016000" y="2413000"/>
            <a:ext cx="10160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Cambria" panose="02040503050406030204" pitchFamily="18" charset="0"/>
              </a:rPr>
              <a:t>Radar E-commerce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E66EE6-EDFF-501B-37AC-733E37D4F0D1}"/>
              </a:ext>
            </a:extLst>
          </p:cNvPr>
          <p:cNvSpPr txBox="1"/>
          <p:nvPr/>
        </p:nvSpPr>
        <p:spPr>
          <a:xfrm>
            <a:off x="1270000" y="33655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2200">
                <a:solidFill>
                  <a:srgbClr val="00A896"/>
                </a:solidFill>
                <a:latin typeface="Calibri" panose="020F0502020204030204" pitchFamily="34" charset="0"/>
              </a:rPr>
              <a:t>Funcionalidades do App e o Impacto no Resultado da sua Farmácia</a:t>
            </a:r>
            <a:endParaRPr lang="en-US" sz="2200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E350E9A-B27F-CD54-A10A-371D4A142069}"/>
              </a:ext>
            </a:extLst>
          </p:cNvPr>
          <p:cNvSpPr/>
          <p:nvPr/>
        </p:nvSpPr>
        <p:spPr>
          <a:xfrm>
            <a:off x="5651500" y="4445000"/>
            <a:ext cx="228600" cy="2286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CC8B1B5D-CF62-78BD-D1DE-C5A1226908B3}"/>
              </a:ext>
            </a:extLst>
          </p:cNvPr>
          <p:cNvSpPr/>
          <p:nvPr/>
        </p:nvSpPr>
        <p:spPr>
          <a:xfrm>
            <a:off x="5981700" y="4445000"/>
            <a:ext cx="228600" cy="2286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504D14-A31F-D104-FDD4-6332AB9FEF54}"/>
              </a:ext>
            </a:extLst>
          </p:cNvPr>
          <p:cNvSpPr/>
          <p:nvPr/>
        </p:nvSpPr>
        <p:spPr>
          <a:xfrm>
            <a:off x="6311900" y="4445000"/>
            <a:ext cx="228600" cy="2286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DAEA49-79AE-4219-7F88-9350505C8640}"/>
              </a:ext>
            </a:extLst>
          </p:cNvPr>
          <p:cNvSpPr txBox="1"/>
          <p:nvPr/>
        </p:nvSpPr>
        <p:spPr>
          <a:xfrm>
            <a:off x="1270000" y="6096000"/>
            <a:ext cx="965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200">
                <a:solidFill>
                  <a:srgbClr val="00A896"/>
                </a:solidFill>
                <a:latin typeface="Calibri" panose="020F0502020204030204" pitchFamily="34" charset="0"/>
              </a:rPr>
              <a:t>Squad App  ·  Farmarcas  ·  Julho 2026</a:t>
            </a:r>
            <a:endParaRPr lang="en-US" sz="1200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38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C4D72A-F6F7-FA8E-83FB-31A770BFFD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2A31F6-B30F-BD7D-88AB-B2144BF35DAC}"/>
              </a:ext>
            </a:extLst>
          </p:cNvPr>
          <p:cNvSpPr txBox="1"/>
          <p:nvPr/>
        </p:nvSpPr>
        <p:spPr>
          <a:xfrm>
            <a:off x="508000" y="508000"/>
            <a:ext cx="889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400" b="1">
                <a:solidFill>
                  <a:srgbClr val="028090"/>
                </a:solidFill>
                <a:latin typeface="Cambria" panose="02040503050406030204" pitchFamily="18" charset="0"/>
              </a:rPr>
              <a:t>O que é o Radar E-commerce</a:t>
            </a:r>
            <a:endParaRPr lang="en-US" sz="34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494756-2F74-CEE2-9B4A-DB4A10958FCB}"/>
              </a:ext>
            </a:extLst>
          </p:cNvPr>
          <p:cNvSpPr txBox="1"/>
          <p:nvPr/>
        </p:nvSpPr>
        <p:spPr>
          <a:xfrm>
            <a:off x="508000" y="1524000"/>
            <a:ext cx="5334000" cy="20774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1A2E2E"/>
                </a:solidFill>
                <a:latin typeface="Calibri" panose="020F0502020204030204" pitchFamily="34" charset="0"/>
              </a:rPr>
              <a:t>Plataforma B2B2C da Farmarcas que conecta farmácias associadas a consumidores finais.</a:t>
            </a:r>
          </a:p>
          <a:p>
            <a:endParaRPr lang="pt-BR" sz="1500">
              <a:solidFill>
                <a:srgbClr val="1A2E2E"/>
              </a:solidFill>
              <a:latin typeface="Calibri" panose="020F0502020204030204" pitchFamily="34" charset="0"/>
            </a:endParaRPr>
          </a:p>
          <a:p>
            <a:r>
              <a:rPr lang="pt-BR" sz="1500">
                <a:solidFill>
                  <a:srgbClr val="1A2E2E"/>
                </a:solidFill>
                <a:latin typeface="Calibri" panose="020F0502020204030204" pitchFamily="34" charset="0"/>
              </a:rPr>
              <a:t>Não é um marketplace: cada farmácia opera sua própria loja digital, com catálogo, preço e regras definidos por ela mesma no Portal.</a:t>
            </a:r>
          </a:p>
          <a:p>
            <a:endParaRPr lang="pt-BR" sz="1500">
              <a:solidFill>
                <a:srgbClr val="1A2E2E"/>
              </a:solidFill>
              <a:latin typeface="Calibri" panose="020F0502020204030204" pitchFamily="34" charset="0"/>
            </a:endParaRPr>
          </a:p>
          <a:p>
            <a:r>
              <a:rPr lang="pt-BR" sz="1500">
                <a:solidFill>
                  <a:srgbClr val="1A2E2E"/>
                </a:solidFill>
                <a:latin typeface="Calibri" panose="020F0502020204030204" pitchFamily="34" charset="0"/>
              </a:rPr>
              <a:t>O consumidor está sempre vinculado a uma farmácia específica — e é essa farmácia que colhe o resultado de cada funcionalidade do app.</a:t>
            </a:r>
            <a:endParaRPr lang="en-US" sz="15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E96728F-AC71-C1AC-13AE-89D1A5642A56}"/>
              </a:ext>
            </a:extLst>
          </p:cNvPr>
          <p:cNvSpPr/>
          <p:nvPr/>
        </p:nvSpPr>
        <p:spPr>
          <a:xfrm>
            <a:off x="6350000" y="1651000"/>
            <a:ext cx="533400" cy="533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779069-7B97-8005-F408-771754ECC0C2}"/>
              </a:ext>
            </a:extLst>
          </p:cNvPr>
          <p:cNvSpPr txBox="1"/>
          <p:nvPr/>
        </p:nvSpPr>
        <p:spPr>
          <a:xfrm>
            <a:off x="6350000" y="1752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0582F56-FA39-9A72-EC3E-505ACFD0F96A}"/>
              </a:ext>
            </a:extLst>
          </p:cNvPr>
          <p:cNvSpPr txBox="1"/>
          <p:nvPr/>
        </p:nvSpPr>
        <p:spPr>
          <a:xfrm>
            <a:off x="7048500" y="1651000"/>
            <a:ext cx="4635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2E2E"/>
                </a:solidFill>
                <a:latin typeface="Calibri" panose="020F0502020204030204" pitchFamily="34" charset="0"/>
              </a:rPr>
              <a:t>Consumidor Fidelizado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ABD6E9-8BAB-3F64-A171-9892D6B2F6FB}"/>
              </a:ext>
            </a:extLst>
          </p:cNvPr>
          <p:cNvSpPr txBox="1"/>
          <p:nvPr/>
        </p:nvSpPr>
        <p:spPr>
          <a:xfrm>
            <a:off x="7048500" y="19812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44504F"/>
                </a:solidFill>
                <a:latin typeface="Calibri" panose="020F0502020204030204" pitchFamily="34" charset="0"/>
              </a:rPr>
              <a:t>Cliente habitual, busca conveniência e recorrência de compra</a:t>
            </a:r>
            <a:endParaRPr lang="en-US" sz="1200">
              <a:solidFill>
                <a:srgbClr val="44504F"/>
              </a:solidFill>
              <a:latin typeface="Calibri" panose="020F0502020204030204" pitchFamily="34" charset="0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6EBE80D-4573-A0DB-7459-A8FB4F0F8E26}"/>
              </a:ext>
            </a:extLst>
          </p:cNvPr>
          <p:cNvSpPr/>
          <p:nvPr/>
        </p:nvSpPr>
        <p:spPr>
          <a:xfrm>
            <a:off x="6350000" y="2984500"/>
            <a:ext cx="533400" cy="533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9B4B6C-6300-EF20-498A-BA067D402761}"/>
              </a:ext>
            </a:extLst>
          </p:cNvPr>
          <p:cNvSpPr txBox="1"/>
          <p:nvPr/>
        </p:nvSpPr>
        <p:spPr>
          <a:xfrm>
            <a:off x="6350000" y="30861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P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D766D7-3289-4D06-E613-2F96F775748A}"/>
              </a:ext>
            </a:extLst>
          </p:cNvPr>
          <p:cNvSpPr txBox="1"/>
          <p:nvPr/>
        </p:nvSpPr>
        <p:spPr>
          <a:xfrm>
            <a:off x="7048500" y="2984500"/>
            <a:ext cx="4635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2E2E"/>
                </a:solidFill>
                <a:latin typeface="Calibri" panose="020F0502020204030204" pitchFamily="34" charset="0"/>
              </a:rPr>
              <a:t>Consumidor PBM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9CA14FC-E332-307B-570D-FBB996CCF42D}"/>
              </a:ext>
            </a:extLst>
          </p:cNvPr>
          <p:cNvSpPr txBox="1"/>
          <p:nvPr/>
        </p:nvSpPr>
        <p:spPr>
          <a:xfrm>
            <a:off x="7048500" y="33147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44504F"/>
                </a:solidFill>
                <a:latin typeface="Calibri" panose="020F0502020204030204" pitchFamily="34" charset="0"/>
              </a:rPr>
              <a:t>Tem benefício de convênio farmacêutico, busca o desconto do plano</a:t>
            </a:r>
            <a:endParaRPr lang="en-US" sz="1200">
              <a:solidFill>
                <a:srgbClr val="44504F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32C285C-08F9-594D-04C3-2F3665AB3632}"/>
              </a:ext>
            </a:extLst>
          </p:cNvPr>
          <p:cNvSpPr/>
          <p:nvPr/>
        </p:nvSpPr>
        <p:spPr>
          <a:xfrm>
            <a:off x="6350000" y="4318000"/>
            <a:ext cx="533400" cy="5334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F3B60C5-A386-3BE2-FFDF-14C4CA1DA1A4}"/>
              </a:ext>
            </a:extLst>
          </p:cNvPr>
          <p:cNvSpPr txBox="1"/>
          <p:nvPr/>
        </p:nvSpPr>
        <p:spPr>
          <a:xfrm>
            <a:off x="6350000" y="4419600"/>
            <a:ext cx="53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libri" panose="020F0502020204030204" pitchFamily="34" charset="0"/>
              </a:rPr>
              <a:t>E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03D4DF6-010F-0BAB-793C-48D99FCE11F7}"/>
              </a:ext>
            </a:extLst>
          </p:cNvPr>
          <p:cNvSpPr txBox="1"/>
          <p:nvPr/>
        </p:nvSpPr>
        <p:spPr>
          <a:xfrm>
            <a:off x="7048500" y="4318000"/>
            <a:ext cx="4635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A2E2E"/>
                </a:solidFill>
                <a:latin typeface="Calibri" panose="020F0502020204030204" pitchFamily="34" charset="0"/>
              </a:rPr>
              <a:t>Consumidor Eventual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7A6E2EF-0585-B270-0072-F57E81555CB7}"/>
              </a:ext>
            </a:extLst>
          </p:cNvPr>
          <p:cNvSpPr txBox="1"/>
          <p:nvPr/>
        </p:nvSpPr>
        <p:spPr>
          <a:xfrm>
            <a:off x="7048500" y="4648200"/>
            <a:ext cx="4635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44504F"/>
                </a:solidFill>
                <a:latin typeface="Calibri" panose="020F0502020204030204" pitchFamily="34" charset="0"/>
              </a:rPr>
              <a:t>Chegou por indicação ou busca, decide pela confiança na loja</a:t>
            </a:r>
            <a:endParaRPr lang="en-US" sz="1200">
              <a:solidFill>
                <a:srgbClr val="44504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3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41ADE1-3F5D-32A7-0063-4818EBAE46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4AC80B-EA15-49B3-0489-5FD12695828D}"/>
              </a:ext>
            </a:extLst>
          </p:cNvPr>
          <p:cNvSpPr txBox="1"/>
          <p:nvPr/>
        </p:nvSpPr>
        <p:spPr>
          <a:xfrm>
            <a:off x="1270000" y="1397000"/>
            <a:ext cx="965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Calibri" panose="020F0502020204030204" pitchFamily="34" charset="0"/>
              </a:rPr>
              <a:t>A MÉTRICA QUE GUIA TUDO NESTE APP</a:t>
            </a:r>
            <a:endParaRPr lang="en-US" sz="1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102977-56C4-CABF-7148-753DB86EDF35}"/>
              </a:ext>
            </a:extLst>
          </p:cNvPr>
          <p:cNvSpPr txBox="1"/>
          <p:nvPr/>
        </p:nvSpPr>
        <p:spPr>
          <a:xfrm>
            <a:off x="1143000" y="2413000"/>
            <a:ext cx="9906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4000" b="1">
                <a:solidFill>
                  <a:srgbClr val="FFFFFF"/>
                </a:solidFill>
                <a:latin typeface="Cambria" panose="02040503050406030204" pitchFamily="18" charset="0"/>
              </a:rPr>
              <a:t>Volume de Transações por Loja Ativa</a:t>
            </a:r>
            <a:endParaRPr lang="en-US" sz="40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53722F-0FEE-8E57-4398-9EB32F8C0673}"/>
              </a:ext>
            </a:extLst>
          </p:cNvPr>
          <p:cNvSpPr txBox="1"/>
          <p:nvPr/>
        </p:nvSpPr>
        <p:spPr>
          <a:xfrm>
            <a:off x="1778000" y="4318000"/>
            <a:ext cx="8636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i="1">
                <a:solidFill>
                  <a:srgbClr val="E5F4F3"/>
                </a:solidFill>
                <a:latin typeface="Calibri" panose="020F0502020204030204" pitchFamily="34" charset="0"/>
              </a:rPr>
              <a:t>Toda funcionalidade do app existe para mover esse número — e, por consequência, o resultado da sua farmácia.</a:t>
            </a:r>
            <a:endParaRPr lang="en-US" i="1">
              <a:solidFill>
                <a:srgbClr val="E5F4F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82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7555D91-B194-97B5-16CF-F46B2B6E2B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E137EA-7847-0B8B-4B9C-89974B6B330D}"/>
              </a:ext>
            </a:extLst>
          </p:cNvPr>
          <p:cNvSpPr txBox="1"/>
          <p:nvPr/>
        </p:nvSpPr>
        <p:spPr>
          <a:xfrm>
            <a:off x="508000" y="508000"/>
            <a:ext cx="889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028090"/>
                </a:solidFill>
                <a:latin typeface="Cambria" panose="02040503050406030204" pitchFamily="18" charset="0"/>
              </a:rPr>
              <a:t>Da descoberta à fidelização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E14507A-687E-E18E-FCB4-37B14415C52C}"/>
              </a:ext>
            </a:extLst>
          </p:cNvPr>
          <p:cNvSpPr/>
          <p:nvPr/>
        </p:nvSpPr>
        <p:spPr>
          <a:xfrm>
            <a:off x="508000" y="1778000"/>
            <a:ext cx="762000" cy="762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BA0A9D-EE1D-514E-D974-03672664638C}"/>
              </a:ext>
            </a:extLst>
          </p:cNvPr>
          <p:cNvSpPr txBox="1"/>
          <p:nvPr/>
        </p:nvSpPr>
        <p:spPr>
          <a:xfrm>
            <a:off x="508000" y="19685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mbria" panose="02040503050406030204" pitchFamily="18" charset="0"/>
              </a:rPr>
              <a:t>01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B82804-0F0F-F126-0559-4159A6924E7F}"/>
              </a:ext>
            </a:extLst>
          </p:cNvPr>
          <p:cNvSpPr txBox="1"/>
          <p:nvPr/>
        </p:nvSpPr>
        <p:spPr>
          <a:xfrm>
            <a:off x="317500" y="2730500"/>
            <a:ext cx="247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A2E2E"/>
                </a:solidFill>
                <a:latin typeface="Calibri" panose="020F0502020204030204" pitchFamily="34" charset="0"/>
              </a:rPr>
              <a:t>Descoberta da loja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39092A-41C8-722B-02CC-B38D13137031}"/>
              </a:ext>
            </a:extLst>
          </p:cNvPr>
          <p:cNvSpPr txBox="1"/>
          <p:nvPr/>
        </p:nvSpPr>
        <p:spPr>
          <a:xfrm>
            <a:off x="2730500" y="1905000"/>
            <a:ext cx="38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44504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4A13969-41CF-0A99-077F-931F22F50095}"/>
              </a:ext>
            </a:extLst>
          </p:cNvPr>
          <p:cNvSpPr/>
          <p:nvPr/>
        </p:nvSpPr>
        <p:spPr>
          <a:xfrm>
            <a:off x="3111500" y="1778000"/>
            <a:ext cx="762000" cy="762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DAD262E-D1A4-0092-B279-C170DD304C84}"/>
              </a:ext>
            </a:extLst>
          </p:cNvPr>
          <p:cNvSpPr txBox="1"/>
          <p:nvPr/>
        </p:nvSpPr>
        <p:spPr>
          <a:xfrm>
            <a:off x="3111500" y="19685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mbria" panose="02040503050406030204" pitchFamily="18" charset="0"/>
              </a:rPr>
              <a:t>02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A58870-62F6-F350-ADDB-9721120D4234}"/>
              </a:ext>
            </a:extLst>
          </p:cNvPr>
          <p:cNvSpPr txBox="1"/>
          <p:nvPr/>
        </p:nvSpPr>
        <p:spPr>
          <a:xfrm>
            <a:off x="2921000" y="2730500"/>
            <a:ext cx="247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A2E2E"/>
                </a:solidFill>
                <a:latin typeface="Calibri" panose="020F0502020204030204" pitchFamily="34" charset="0"/>
              </a:rPr>
              <a:t>Catálogo &amp; Ofertas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E5B7E9-20E4-EA71-3396-BF60AB7F4E41}"/>
              </a:ext>
            </a:extLst>
          </p:cNvPr>
          <p:cNvSpPr txBox="1"/>
          <p:nvPr/>
        </p:nvSpPr>
        <p:spPr>
          <a:xfrm>
            <a:off x="5334000" y="1905000"/>
            <a:ext cx="38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44504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FAD8EBD-7714-8739-112F-6870384F6727}"/>
              </a:ext>
            </a:extLst>
          </p:cNvPr>
          <p:cNvSpPr/>
          <p:nvPr/>
        </p:nvSpPr>
        <p:spPr>
          <a:xfrm>
            <a:off x="5715000" y="1778000"/>
            <a:ext cx="762000" cy="762000"/>
          </a:xfrm>
          <a:prstGeom prst="ellipse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F72B893-3F72-BE24-D824-3991D20D9659}"/>
              </a:ext>
            </a:extLst>
          </p:cNvPr>
          <p:cNvSpPr txBox="1"/>
          <p:nvPr/>
        </p:nvSpPr>
        <p:spPr>
          <a:xfrm>
            <a:off x="5715000" y="19685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mbria" panose="02040503050406030204" pitchFamily="18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CB9C92E-5422-50EC-3A28-99FC8E39FEA8}"/>
              </a:ext>
            </a:extLst>
          </p:cNvPr>
          <p:cNvSpPr txBox="1"/>
          <p:nvPr/>
        </p:nvSpPr>
        <p:spPr>
          <a:xfrm>
            <a:off x="5524500" y="2730500"/>
            <a:ext cx="247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A2E2E"/>
                </a:solidFill>
                <a:latin typeface="Calibri" panose="020F0502020204030204" pitchFamily="34" charset="0"/>
              </a:rPr>
              <a:t>Carrinho &amp; Checkout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85AEFAD-8480-ECA4-4446-D4BAE3203CF3}"/>
              </a:ext>
            </a:extLst>
          </p:cNvPr>
          <p:cNvSpPr txBox="1"/>
          <p:nvPr/>
        </p:nvSpPr>
        <p:spPr>
          <a:xfrm>
            <a:off x="7937500" y="1905000"/>
            <a:ext cx="38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b="1">
                <a:solidFill>
                  <a:srgbClr val="44504F"/>
                </a:solidFill>
                <a:latin typeface="Calibri" panose="020F0502020204030204" pitchFamily="34" charset="0"/>
              </a:rPr>
              <a:t>&gt;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985B569-4D54-AEAB-0B14-DD48A27274F5}"/>
              </a:ext>
            </a:extLst>
          </p:cNvPr>
          <p:cNvSpPr/>
          <p:nvPr/>
        </p:nvSpPr>
        <p:spPr>
          <a:xfrm>
            <a:off x="8318500" y="1778000"/>
            <a:ext cx="762000" cy="762000"/>
          </a:xfrm>
          <a:prstGeom prst="ellipse">
            <a:avLst/>
          </a:prstGeom>
          <a:solidFill>
            <a:srgbClr val="00A8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3EDAB9F-3DA3-2108-370F-17813789FE34}"/>
              </a:ext>
            </a:extLst>
          </p:cNvPr>
          <p:cNvSpPr txBox="1"/>
          <p:nvPr/>
        </p:nvSpPr>
        <p:spPr>
          <a:xfrm>
            <a:off x="8318500" y="19685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mbria" panose="02040503050406030204" pitchFamily="18" charset="0"/>
              </a:rPr>
              <a:t>04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6F3103-E414-1214-CCCC-2387E4CD4C3E}"/>
              </a:ext>
            </a:extLst>
          </p:cNvPr>
          <p:cNvSpPr txBox="1"/>
          <p:nvPr/>
        </p:nvSpPr>
        <p:spPr>
          <a:xfrm>
            <a:off x="8128000" y="2730500"/>
            <a:ext cx="247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1A2E2E"/>
                </a:solidFill>
                <a:latin typeface="Calibri" panose="020F0502020204030204" pitchFamily="34" charset="0"/>
              </a:rPr>
              <a:t>Pós-venda &amp; Recompra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CAD2211-FD1A-FFFB-04BE-2B8FFA78CBFB}"/>
              </a:ext>
            </a:extLst>
          </p:cNvPr>
          <p:cNvSpPr/>
          <p:nvPr/>
        </p:nvSpPr>
        <p:spPr>
          <a:xfrm>
            <a:off x="1143000" y="4318000"/>
            <a:ext cx="9906000" cy="1397000"/>
          </a:xfrm>
          <a:prstGeom prst="roundRect">
            <a:avLst>
              <a:gd name="adj" fmla="val 12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015FD55-4BEA-9B28-18A7-821E8074732D}"/>
              </a:ext>
            </a:extLst>
          </p:cNvPr>
          <p:cNvSpPr txBox="1"/>
          <p:nvPr/>
        </p:nvSpPr>
        <p:spPr>
          <a:xfrm>
            <a:off x="1651000" y="4635500"/>
            <a:ext cx="8890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i="1">
                <a:solidFill>
                  <a:srgbClr val="1A2E2E"/>
                </a:solidFill>
                <a:latin typeface="Calibri" panose="020F0502020204030204" pitchFamily="34" charset="0"/>
              </a:rPr>
              <a:t>O PBM atravessa toda a jornada, aplicando o desconto do laboratório automaticamente do card do produto até a confirmação da venda.</a:t>
            </a:r>
            <a:endParaRPr lang="en-US" sz="1500" i="1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22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4D03A07-5642-1961-2A54-CF6AC69585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F9838177-7B22-57DB-4D7E-D42505EBAC21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A398B44-1405-4196-F906-E01E52A47EE5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7E829F-D32D-AEB3-1CC1-E1D70B50BFAA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28090"/>
                </a:solidFill>
                <a:latin typeface="Cambria" panose="02040503050406030204" pitchFamily="18" charset="0"/>
              </a:rPr>
              <a:t>Descoberta e seleção de loja</a:t>
            </a:r>
            <a:endParaRPr lang="en-US" sz="28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B17AB55-F1C3-CB18-820B-D5BF72CDB373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3437A5-B787-4531-55C9-D6FDCA2F234A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8F9C20-BE65-6DCE-2BBC-90C60A565C82}"/>
              </a:ext>
            </a:extLst>
          </p:cNvPr>
          <p:cNvSpPr txBox="1"/>
          <p:nvPr/>
        </p:nvSpPr>
        <p:spPr>
          <a:xfrm>
            <a:off x="825500" y="2476500"/>
            <a:ext cx="4699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Onboarding por GPS ou endereço digitado, com autocomplete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Prioridade de roteamento: mais próxima com entrega, depois módulo vendas, depois ofertas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Troca de farmácia no checkout: até 15 lojas do mesmo grupo econômico, raio de 100 km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852CF2A-6518-1CB3-9DA9-EB01826FA587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E561BF0-75FA-BCEE-12A5-B526DFA7CFAF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FBABD88-2CB9-FD95-A07E-6323726E67BC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78% dos consumidores encontram uma loja com até 2 cliques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O cliente já chega vinculado à SUA farmácia — tráfego qualificado, não disperso entre concorrentes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Recupera venda que seria perdida por falta de estoque, mantendo o cliente dentro da rede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077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BEFCDB2-46B6-FAD4-F28E-AD9BCB711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194B36D-9AD7-7429-EE99-35E9CCA992FF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CE2FA7-3635-67D2-7787-1599D1CE0B97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AE6CC4-2634-C701-AFC2-46515E00A489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28090"/>
                </a:solidFill>
                <a:latin typeface="Cambria" panose="02040503050406030204" pitchFamily="18" charset="0"/>
              </a:rPr>
              <a:t>Catálogo completo, incluindo controlados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D35ED96-F4B4-B082-754C-708CF66123AC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9C9126-9117-787B-AA66-056D2A5C6DF7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D2E3E9-B65F-61C4-F164-C121DEDABEEE}"/>
              </a:ext>
            </a:extLst>
          </p:cNvPr>
          <p:cNvSpPr txBox="1"/>
          <p:nvPr/>
        </p:nvSpPr>
        <p:spPr>
          <a:xfrm>
            <a:off x="825500" y="2476500"/>
            <a:ext cx="4699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Medicamentos com retenção de receita aparecem em busca, departamentos e detalhe do produto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Compra restrita à retirada na loja, mediante apresentação da receita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Conformidade total com a RDC 144 da ANVISA (sem desconto ou tag promocional nesses itens)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6101767-43B8-B0C7-8C16-DB818830E0D5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084C81-045D-D340-E09D-BFE0EDC4387C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A86EE5-E739-E233-34FB-46F249AD78F6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Amplia o catálogo vendável no digital para categorias que hoje só existiam no balcão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Gera tráfego de retirada na loja física — oportunidade de venda cruzada no atendimento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Sem risco regulatório: o app já nasce em conformidade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50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605425-7F9B-7687-C792-A5162B4C4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B0173DD2-7D6B-5167-058A-6BBCA6C9D3ED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8C4C8C-7536-B439-44A1-FE080692A252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E6325E-FC43-5B1C-D750-1BBC6F4BB6E3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28090"/>
                </a:solidFill>
                <a:latin typeface="Cambria" panose="02040503050406030204" pitchFamily="18" charset="0"/>
              </a:rPr>
              <a:t>Ofertas personalizadas com margem protegida</a:t>
            </a:r>
            <a:endParaRPr lang="en-US" sz="28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459B44A-EFE7-DC76-FD99-FBAED0BA374D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186CA0-39CF-75C7-217C-BE19A8A42975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0C552EA-A967-B286-9505-7B883024019E}"/>
              </a:ext>
            </a:extLst>
          </p:cNvPr>
          <p:cNvSpPr txBox="1"/>
          <p:nvPr/>
        </p:nvSpPr>
        <p:spPr>
          <a:xfrm>
            <a:off x="825500" y="2476500"/>
            <a:ext cx="4699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Ativação de oferta por CPF: o preço promocional só vale para quem ativou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Limitador de oferta configurável pela própria loja no Portal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Aviso claro de que descontos não são cumulativos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C9B42E3-02A4-BA82-24A1-1B0D41B504D4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FF98BF-09FA-CFC4-1AFA-5E4AC7A8AE05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639A24-AA78-9421-1E36-0E1A97DCD8F6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Aumenta ticket médio e engajamento do consumidor com a vitrine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O limite de compra é definido pela farmácia — a margem fica sob controle de quem vende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Incentiva o retorno do consumidor para 'ativar' novas ofertas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13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07F63B-1C06-91E4-7D25-69BB0928B2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44F877B-B049-B768-A2D2-8621A066E3DC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33DC46-108A-252C-5777-4BDC13B1B7C7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AA7FA9-C303-B4BE-44D6-A7D0B9FB01C5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28090"/>
                </a:solidFill>
                <a:latin typeface="Cambria" panose="02040503050406030204" pitchFamily="18" charset="0"/>
              </a:rPr>
              <a:t>Carrinho que reflete o Portal em tempo real</a:t>
            </a:r>
            <a:endParaRPr lang="en-US" sz="28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E1981B4-BBB6-C17D-F07A-A816E859F292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C90B4D-E832-E5A9-7BDD-3E0038B66C20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CB65F3-6D0E-F26B-8890-7A0868D43CFE}"/>
              </a:ext>
            </a:extLst>
          </p:cNvPr>
          <p:cNvSpPr txBox="1"/>
          <p:nvPr/>
        </p:nvSpPr>
        <p:spPr>
          <a:xfrm>
            <a:off x="825500" y="2476500"/>
            <a:ext cx="4699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Preço e estoque configurados no Portal refletem automaticamente nos carrinhos já montados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Tag de frete grátis atualizada dinamicamente conforme o subtotal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Tratamento automático do limite de oferta, dividindo o produto em 'Oferta' e 'Preço normal'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6ECB9B8-E026-22E8-7A3B-B64EEE9B158F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2F31707-15E4-8DB8-F679-32A8F6DDC68E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ECA57D6-FE24-FDA7-A631-E23A1DDA85F8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Reduz abandono de carrinho: o que o lojista decide no Portal chega instantaneamente ao consumidor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Evita vendas com preço ou estoque desatualizado — protege a operação da farmácia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Menos fricção na decisão de compra, mais conversão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91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C990395-6429-83D3-6D89-68652573A0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AF651D8-E408-A232-3079-380898651D50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A5F316-B25D-E166-A9C9-C68AF98212F4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2741A6-05D6-660A-AAA2-55CB2007102A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028090"/>
                </a:solidFill>
                <a:latin typeface="Cambria" panose="02040503050406030204" pitchFamily="18" charset="0"/>
              </a:rPr>
              <a:t>Checkout flexível: entrega, retirada e pagamento</a:t>
            </a:r>
            <a:endParaRPr lang="en-US" sz="28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75C69A9-7709-7F3F-CBC3-4B5EA6BDCCA4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8226B0-35D5-DA1E-0C1D-B8DE2F282C72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1CCF50-EFF5-D95F-7FEC-DBBE182A2A61}"/>
              </a:ext>
            </a:extLst>
          </p:cNvPr>
          <p:cNvSpPr txBox="1"/>
          <p:nvPr/>
        </p:nvSpPr>
        <p:spPr>
          <a:xfrm>
            <a:off x="825500" y="2476500"/>
            <a:ext cx="4699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Retirada na loja sempre gratuita; entrega em casa com frete calculado pela loja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Pagamento na entrega/retirada (Pix, maquininha, dinheiro) ou pagamento no app (Pix, cartão)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Pix no app com QR Code, timer de 2 horas e estorno automático em caso de expiração paga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017FB41-0EB6-86AA-7C03-7AEC6436EFF1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F28C46B-E35C-D78C-C7B3-20B717CFFF63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93A6E8-904C-D382-8D16-1913FF69F78C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Atende diferentes perfis de pagamento do consumidor, sem fricção no fechamento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Reduz taxa de desistência no último passo da compra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Menos chamados de suporte: o próprio app comunica prazos e status com clareza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22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3A750B0-EBD7-48BC-5816-E44AB0C5D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A5C0136-D17A-FD09-7DAD-DCD39ED2343C}"/>
              </a:ext>
            </a:extLst>
          </p:cNvPr>
          <p:cNvSpPr/>
          <p:nvPr/>
        </p:nvSpPr>
        <p:spPr>
          <a:xfrm>
            <a:off x="508000" y="482600"/>
            <a:ext cx="635000" cy="635000"/>
          </a:xfrm>
          <a:prstGeom prst="ellipse">
            <a:avLst/>
          </a:prstGeom>
          <a:solidFill>
            <a:srgbClr val="F961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3394A8-6893-2A3C-087B-521117825FF6}"/>
              </a:ext>
            </a:extLst>
          </p:cNvPr>
          <p:cNvSpPr txBox="1"/>
          <p:nvPr/>
        </p:nvSpPr>
        <p:spPr>
          <a:xfrm>
            <a:off x="508000" y="635000"/>
            <a:ext cx="63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</a:rPr>
              <a:t>06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A16F44C-7A2E-F12E-C990-602C66F8A898}"/>
              </a:ext>
            </a:extLst>
          </p:cNvPr>
          <p:cNvSpPr txBox="1"/>
          <p:nvPr/>
        </p:nvSpPr>
        <p:spPr>
          <a:xfrm>
            <a:off x="1333500" y="4826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28090"/>
                </a:solidFill>
                <a:latin typeface="Cambria" panose="02040503050406030204" pitchFamily="18" charset="0"/>
              </a:rPr>
              <a:t>Notificações, histórico e recompra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C5A9186-7CA8-168B-4009-E5584CA46282}"/>
              </a:ext>
            </a:extLst>
          </p:cNvPr>
          <p:cNvSpPr/>
          <p:nvPr/>
        </p:nvSpPr>
        <p:spPr>
          <a:xfrm>
            <a:off x="508000" y="1651000"/>
            <a:ext cx="5334000" cy="4572000"/>
          </a:xfrm>
          <a:prstGeom prst="roundRect">
            <a:avLst>
              <a:gd name="adj" fmla="val 6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2F9EE0-CFFC-94E6-63B8-A1B4F6EA6572}"/>
              </a:ext>
            </a:extLst>
          </p:cNvPr>
          <p:cNvSpPr txBox="1"/>
          <p:nvPr/>
        </p:nvSpPr>
        <p:spPr>
          <a:xfrm>
            <a:off x="825500" y="1968500"/>
            <a:ext cx="469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28090"/>
                </a:solidFill>
                <a:latin typeface="Calibri" panose="020F0502020204030204" pitchFamily="34" charset="0"/>
              </a:rPr>
              <a:t>O QUE 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86E76F-B149-0841-91C8-2AFFC303FA31}"/>
              </a:ext>
            </a:extLst>
          </p:cNvPr>
          <p:cNvSpPr txBox="1"/>
          <p:nvPr/>
        </p:nvSpPr>
        <p:spPr>
          <a:xfrm>
            <a:off x="825500" y="2476500"/>
            <a:ext cx="4699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Push notification a cada transição de status do pedido (fila, separação, retirada, entrega)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Histórico organizado entre pedidos em andamento e concluídos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Recompra: repetir um pedido anterior com um único clique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99FD22-82DC-14E8-BF95-7A8C186F19DC}"/>
              </a:ext>
            </a:extLst>
          </p:cNvPr>
          <p:cNvSpPr/>
          <p:nvPr/>
        </p:nvSpPr>
        <p:spPr>
          <a:xfrm>
            <a:off x="6223000" y="1651000"/>
            <a:ext cx="5461000" cy="4572000"/>
          </a:xfrm>
          <a:prstGeom prst="roundRect">
            <a:avLst>
              <a:gd name="adj" fmla="val 6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B8C9CB7-D2BB-640C-5990-42798C3A434F}"/>
              </a:ext>
            </a:extLst>
          </p:cNvPr>
          <p:cNvSpPr txBox="1"/>
          <p:nvPr/>
        </p:nvSpPr>
        <p:spPr>
          <a:xfrm>
            <a:off x="6540500" y="1968500"/>
            <a:ext cx="482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F96167"/>
                </a:solidFill>
                <a:latin typeface="Calibri" panose="020F0502020204030204" pitchFamily="34" charset="0"/>
              </a:rPr>
              <a:t>IMPACTO NO RESULTADO DA FARMACIA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1468F-F16C-399F-E338-99B9253A3130}"/>
              </a:ext>
            </a:extLst>
          </p:cNvPr>
          <p:cNvSpPr txBox="1"/>
          <p:nvPr/>
        </p:nvSpPr>
        <p:spPr>
          <a:xfrm>
            <a:off x="6540500" y="2476500"/>
            <a:ext cx="4826000" cy="10772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Reduz ansiedade do cliente e 'no-show' na retirada do pedido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Aumenta a recorrência de compra — motor direto do NSM (Volume de Transações por Loja Ativa)</a:t>
            </a:r>
          </a:p>
          <a:p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-  Recompra reduz a fricção da segunda venda para o mesmo consumidor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01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99C6DFD-7183-7F87-A171-2DDADF7AFB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20E46EB-BC2C-9779-236F-CAA89A47CFFD}"/>
              </a:ext>
            </a:extLst>
          </p:cNvPr>
          <p:cNvSpPr/>
          <p:nvPr/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62A35B-7F4E-EB15-0054-AFFE48D38C6C}"/>
              </a:ext>
            </a:extLst>
          </p:cNvPr>
          <p:cNvSpPr txBox="1"/>
          <p:nvPr/>
        </p:nvSpPr>
        <p:spPr>
          <a:xfrm>
            <a:off x="508000" y="762000"/>
            <a:ext cx="50800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600" b="1">
                <a:solidFill>
                  <a:srgbClr val="FFFFFF"/>
                </a:solidFill>
                <a:latin typeface="Cambria" panose="02040503050406030204" pitchFamily="18" charset="0"/>
              </a:rPr>
              <a:t>PBM: o próximo grande motor de conversão</a:t>
            </a:r>
            <a:endParaRPr lang="en-US" sz="26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F05331-422F-B140-9CE7-8232507E3B8C}"/>
              </a:ext>
            </a:extLst>
          </p:cNvPr>
          <p:cNvSpPr txBox="1"/>
          <p:nvPr/>
        </p:nvSpPr>
        <p:spPr>
          <a:xfrm>
            <a:off x="508000" y="2222500"/>
            <a:ext cx="508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E5F4F3"/>
                </a:solidFill>
                <a:latin typeface="Calibri" panose="020F0502020204030204" pitchFamily="34" charset="0"/>
              </a:rPr>
              <a:t>-  Desconto por convênio ou plano de saúde farmacêutico, aplicado direto no app</a:t>
            </a:r>
          </a:p>
          <a:p>
            <a:r>
              <a:rPr lang="pt-BR" sz="1400">
                <a:solidFill>
                  <a:srgbClr val="E5F4F3"/>
                </a:solidFill>
                <a:latin typeface="Calibri" panose="020F0502020204030204" pitchFamily="34" charset="0"/>
              </a:rPr>
              <a:t>-  Parceiro atual: Interplayers. Em integração: Funcional Card</a:t>
            </a:r>
          </a:p>
          <a:p>
            <a:r>
              <a:rPr lang="pt-BR" sz="1400">
                <a:solidFill>
                  <a:srgbClr val="E5F4F3"/>
                </a:solidFill>
                <a:latin typeface="Calibri" panose="020F0502020204030204" pitchFamily="34" charset="0"/>
              </a:rPr>
              <a:t>-  Modelo plug-and-play: cada loja habilita o PBM de forma independente, sem customização</a:t>
            </a:r>
          </a:p>
          <a:p>
            <a:r>
              <a:rPr lang="pt-BR" sz="1400">
                <a:solidFill>
                  <a:srgbClr val="E5F4F3"/>
                </a:solidFill>
                <a:latin typeface="Calibri" panose="020F0502020204030204" pitchFamily="34" charset="0"/>
              </a:rPr>
              <a:t>-  Sem taxa adicional para a farmácia no canal digital</a:t>
            </a:r>
            <a:endParaRPr lang="en-US" sz="1400">
              <a:solidFill>
                <a:srgbClr val="E5F4F3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1D72CC-BF35-4863-B999-ADD1EE6118B7}"/>
              </a:ext>
            </a:extLst>
          </p:cNvPr>
          <p:cNvSpPr txBox="1"/>
          <p:nvPr/>
        </p:nvSpPr>
        <p:spPr>
          <a:xfrm>
            <a:off x="6350000" y="1143000"/>
            <a:ext cx="5334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6000" b="1">
                <a:solidFill>
                  <a:srgbClr val="F96167"/>
                </a:solidFill>
                <a:latin typeface="Cambria" panose="02040503050406030204" pitchFamily="18" charset="0"/>
              </a:rPr>
              <a:t>60–70%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B414FD-1492-8D4C-101F-0374AF645D09}"/>
              </a:ext>
            </a:extLst>
          </p:cNvPr>
          <p:cNvSpPr txBox="1"/>
          <p:nvPr/>
        </p:nvSpPr>
        <p:spPr>
          <a:xfrm>
            <a:off x="6350000" y="2222500"/>
            <a:ext cx="533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400">
                <a:solidFill>
                  <a:srgbClr val="44504F"/>
                </a:solidFill>
                <a:latin typeface="Calibri" panose="020F0502020204030204" pitchFamily="34" charset="0"/>
              </a:rPr>
              <a:t>do faturamento de certos programas de desconto já vem de produtos com bolsa comercial diferenciada — hoje perdido para concorrentes com desconto agressivo no digital</a:t>
            </a:r>
            <a:endParaRPr lang="en-US" sz="1400">
              <a:solidFill>
                <a:srgbClr val="44504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CB876D2-A914-9533-7CD8-0E1C60B6CD22}"/>
              </a:ext>
            </a:extLst>
          </p:cNvPr>
          <p:cNvSpPr/>
          <p:nvPr/>
        </p:nvSpPr>
        <p:spPr>
          <a:xfrm>
            <a:off x="6350000" y="4445000"/>
            <a:ext cx="5334000" cy="889000"/>
          </a:xfrm>
          <a:prstGeom prst="roundRect">
            <a:avLst>
              <a:gd name="adj" fmla="val 30000"/>
            </a:avLst>
          </a:prstGeom>
          <a:solidFill>
            <a:srgbClr val="FDEA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A8DE118-FD12-12D8-4366-129D3009293F}"/>
              </a:ext>
            </a:extLst>
          </p:cNvPr>
          <p:cNvSpPr txBox="1"/>
          <p:nvPr/>
        </p:nvSpPr>
        <p:spPr>
          <a:xfrm>
            <a:off x="6604000" y="4673600"/>
            <a:ext cx="482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 b="1">
                <a:solidFill>
                  <a:srgbClr val="1A2E2E"/>
                </a:solidFill>
                <a:latin typeface="Calibri" panose="020F0502020204030204" pitchFamily="34" charset="0"/>
              </a:rPr>
              <a:t>Meta: anúncio a 100% dos Associados em agosto/2026</a:t>
            </a:r>
            <a:endParaRPr lang="en-US" sz="1300" b="1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03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5BD8D3C-B4FC-F4B2-B50E-017FA98B8B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16FBA6-3E14-79B5-5697-F24E2DC5A4FF}"/>
              </a:ext>
            </a:extLst>
          </p:cNvPr>
          <p:cNvSpPr txBox="1"/>
          <p:nvPr/>
        </p:nvSpPr>
        <p:spPr>
          <a:xfrm>
            <a:off x="508000" y="508000"/>
            <a:ext cx="889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3200" b="1">
                <a:solidFill>
                  <a:srgbClr val="028090"/>
                </a:solidFill>
                <a:latin typeface="Cambria" panose="02040503050406030204" pitchFamily="18" charset="0"/>
              </a:rPr>
              <a:t>Resultados que já perseguimos em 2026</a:t>
            </a:r>
            <a:endParaRPr lang="en-US" sz="3200" b="1">
              <a:solidFill>
                <a:srgbClr val="028090"/>
              </a:solidFill>
              <a:latin typeface="Cambria" panose="02040503050406030204" pitchFamily="18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EE9C5DE-FFF9-1AD4-04DC-A12220CB7D77}"/>
              </a:ext>
            </a:extLst>
          </p:cNvPr>
          <p:cNvSpPr/>
          <p:nvPr/>
        </p:nvSpPr>
        <p:spPr>
          <a:xfrm>
            <a:off x="508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93B8F7-1477-D831-E0AF-B90D7530B7FB}"/>
              </a:ext>
            </a:extLst>
          </p:cNvPr>
          <p:cNvSpPr txBox="1"/>
          <p:nvPr/>
        </p:nvSpPr>
        <p:spPr>
          <a:xfrm>
            <a:off x="698500" y="190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22% → 30%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4C11DD-D720-381B-836C-C9AA24D7B74C}"/>
              </a:ext>
            </a:extLst>
          </p:cNvPr>
          <p:cNvSpPr txBox="1"/>
          <p:nvPr/>
        </p:nvSpPr>
        <p:spPr>
          <a:xfrm>
            <a:off x="698500" y="273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1A2E2E"/>
                </a:solidFill>
                <a:latin typeface="Calibri" panose="020F0502020204030204" pitchFamily="34" charset="0"/>
              </a:rPr>
              <a:t>Conversão de vendas mensal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8F5B46C-DD2E-615C-EAE6-1102C9E2F3FF}"/>
              </a:ext>
            </a:extLst>
          </p:cNvPr>
          <p:cNvSpPr/>
          <p:nvPr/>
        </p:nvSpPr>
        <p:spPr>
          <a:xfrm>
            <a:off x="4318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693BFFE-5092-5237-8122-1B90E1358384}"/>
              </a:ext>
            </a:extLst>
          </p:cNvPr>
          <p:cNvSpPr txBox="1"/>
          <p:nvPr/>
        </p:nvSpPr>
        <p:spPr>
          <a:xfrm>
            <a:off x="4508500" y="190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R$ 66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BF3C74F-FF04-55EA-4D1E-87E2AB180EEB}"/>
              </a:ext>
            </a:extLst>
          </p:cNvPr>
          <p:cNvSpPr txBox="1"/>
          <p:nvPr/>
        </p:nvSpPr>
        <p:spPr>
          <a:xfrm>
            <a:off x="4508500" y="273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1A2E2E"/>
                </a:solidFill>
                <a:latin typeface="Calibri" panose="020F0502020204030204" pitchFamily="34" charset="0"/>
              </a:rPr>
              <a:t>Ticket médio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793FDE0-2B05-4829-680A-2FD1675EE293}"/>
              </a:ext>
            </a:extLst>
          </p:cNvPr>
          <p:cNvSpPr/>
          <p:nvPr/>
        </p:nvSpPr>
        <p:spPr>
          <a:xfrm>
            <a:off x="8128000" y="165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7C4236C-5816-86BD-3AD2-07FA318636F7}"/>
              </a:ext>
            </a:extLst>
          </p:cNvPr>
          <p:cNvSpPr txBox="1"/>
          <p:nvPr/>
        </p:nvSpPr>
        <p:spPr>
          <a:xfrm>
            <a:off x="8318500" y="190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7BCA1F3-5C23-007D-8A99-5F00D750EC72}"/>
              </a:ext>
            </a:extLst>
          </p:cNvPr>
          <p:cNvSpPr txBox="1"/>
          <p:nvPr/>
        </p:nvSpPr>
        <p:spPr>
          <a:xfrm>
            <a:off x="8318500" y="273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1A2E2E"/>
                </a:solidFill>
                <a:latin typeface="Calibri" panose="020F0502020204030204" pitchFamily="34" charset="0"/>
              </a:rPr>
              <a:t>Itens por carrinho (média)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427B9B7-4733-8EBE-473D-81DE12FE02E9}"/>
              </a:ext>
            </a:extLst>
          </p:cNvPr>
          <p:cNvSpPr/>
          <p:nvPr/>
        </p:nvSpPr>
        <p:spPr>
          <a:xfrm>
            <a:off x="508000" y="419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AC7CD2-BB1D-5663-72CD-EB8E2427EBC2}"/>
              </a:ext>
            </a:extLst>
          </p:cNvPr>
          <p:cNvSpPr txBox="1"/>
          <p:nvPr/>
        </p:nvSpPr>
        <p:spPr>
          <a:xfrm>
            <a:off x="698500" y="444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5,8% → 15%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1C7E317-9149-133E-0A44-58471BDB2098}"/>
              </a:ext>
            </a:extLst>
          </p:cNvPr>
          <p:cNvSpPr txBox="1"/>
          <p:nvPr/>
        </p:nvSpPr>
        <p:spPr>
          <a:xfrm>
            <a:off x="698500" y="527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>
                <a:solidFill>
                  <a:srgbClr val="1A2E2E"/>
                </a:solidFill>
                <a:latin typeface="Calibri" panose="020F0502020204030204" pitchFamily="34" charset="0"/>
              </a:rPr>
              <a:t>Conversão da busca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1A8519D-7CE4-79FD-F452-695A35ECCB4B}"/>
              </a:ext>
            </a:extLst>
          </p:cNvPr>
          <p:cNvSpPr/>
          <p:nvPr/>
        </p:nvSpPr>
        <p:spPr>
          <a:xfrm>
            <a:off x="4318000" y="419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5151AE7-978D-25A4-FA71-85B181D6364B}"/>
              </a:ext>
            </a:extLst>
          </p:cNvPr>
          <p:cNvSpPr txBox="1"/>
          <p:nvPr/>
        </p:nvSpPr>
        <p:spPr>
          <a:xfrm>
            <a:off x="4508500" y="444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R$ 1M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E8FBCC9-5C4A-553C-CD14-6E532CE6C853}"/>
              </a:ext>
            </a:extLst>
          </p:cNvPr>
          <p:cNvSpPr txBox="1"/>
          <p:nvPr/>
        </p:nvSpPr>
        <p:spPr>
          <a:xfrm>
            <a:off x="4508500" y="527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Meta de faturamento mensal até dez/2026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D9DBBCE-E884-53C1-B93B-6F3E1E3859D9}"/>
              </a:ext>
            </a:extLst>
          </p:cNvPr>
          <p:cNvSpPr/>
          <p:nvPr/>
        </p:nvSpPr>
        <p:spPr>
          <a:xfrm>
            <a:off x="8128000" y="4191000"/>
            <a:ext cx="3556000" cy="2222500"/>
          </a:xfrm>
          <a:prstGeom prst="roundRect">
            <a:avLst>
              <a:gd name="adj" fmla="val 8000"/>
            </a:avLst>
          </a:prstGeom>
          <a:solidFill>
            <a:srgbClr val="E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1417192-A3B6-4869-C268-4A0D16696CE2}"/>
              </a:ext>
            </a:extLst>
          </p:cNvPr>
          <p:cNvSpPr txBox="1"/>
          <p:nvPr/>
        </p:nvSpPr>
        <p:spPr>
          <a:xfrm>
            <a:off x="8318500" y="4445000"/>
            <a:ext cx="317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>
                <a:solidFill>
                  <a:srgbClr val="F96167"/>
                </a:solidFill>
                <a:latin typeface="Cambria" panose="02040503050406030204" pitchFamily="18" charset="0"/>
              </a:rPr>
              <a:t>≤ 1%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8FFE512-D035-0019-6B78-731E1714FD53}"/>
              </a:ext>
            </a:extLst>
          </p:cNvPr>
          <p:cNvSpPr txBox="1"/>
          <p:nvPr/>
        </p:nvSpPr>
        <p:spPr>
          <a:xfrm>
            <a:off x="8318500" y="5270500"/>
            <a:ext cx="317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rgbClr val="1A2E2E"/>
                </a:solidFill>
                <a:latin typeface="Calibri" panose="020F0502020204030204" pitchFamily="34" charset="0"/>
              </a:rPr>
              <a:t>Meta de taxa de fraude</a:t>
            </a:r>
            <a:endParaRPr lang="en-US" sz="1400">
              <a:solidFill>
                <a:srgbClr val="1A2E2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976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E1B7AB3-A1BC-BC0E-1550-CDF88A4C39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2C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2F415A-F9BB-75E4-DA46-4D47DEEE7F41}"/>
              </a:ext>
            </a:extLst>
          </p:cNvPr>
          <p:cNvSpPr txBox="1"/>
          <p:nvPr/>
        </p:nvSpPr>
        <p:spPr>
          <a:xfrm>
            <a:off x="1016000" y="1905000"/>
            <a:ext cx="1016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3600" b="1">
                <a:solidFill>
                  <a:srgbClr val="FFFFFF"/>
                </a:solidFill>
                <a:latin typeface="Cambria" panose="02040503050406030204" pitchFamily="18" charset="0"/>
              </a:rPr>
              <a:t>Cada funcionalidade existe para um objetivo</a:t>
            </a:r>
            <a:endParaRPr lang="en-US" sz="3600" b="1">
              <a:solidFill>
                <a:srgbClr val="FFFFFF"/>
              </a:solidFill>
              <a:latin typeface="Cambria" panose="020405030504060302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46767C-299A-6DBE-D541-357020E30FE7}"/>
              </a:ext>
            </a:extLst>
          </p:cNvPr>
          <p:cNvSpPr txBox="1"/>
          <p:nvPr/>
        </p:nvSpPr>
        <p:spPr>
          <a:xfrm>
            <a:off x="1270000" y="3175000"/>
            <a:ext cx="965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2000" i="1">
                <a:solidFill>
                  <a:srgbClr val="00A896"/>
                </a:solidFill>
                <a:latin typeface="Calibri" panose="020F0502020204030204" pitchFamily="34" charset="0"/>
              </a:rPr>
              <a:t>Mais transações. Em mais lojas ativas.</a:t>
            </a:r>
            <a:endParaRPr lang="en-US" sz="2000" i="1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A5E5EC-A421-1D3D-2DB7-A8DE5E7705D9}"/>
              </a:ext>
            </a:extLst>
          </p:cNvPr>
          <p:cNvSpPr/>
          <p:nvPr/>
        </p:nvSpPr>
        <p:spPr>
          <a:xfrm>
            <a:off x="1651000" y="4191000"/>
            <a:ext cx="8890000" cy="6985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592BA2E-8189-F874-4C80-7CF0E4F0F32E}"/>
              </a:ext>
            </a:extLst>
          </p:cNvPr>
          <p:cNvSpPr txBox="1"/>
          <p:nvPr/>
        </p:nvSpPr>
        <p:spPr>
          <a:xfrm>
            <a:off x="1905000" y="4381500"/>
            <a:ext cx="838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FFFFFF"/>
                </a:solidFill>
                <a:latin typeface="Calibri" panose="020F0502020204030204" pitchFamily="34" charset="0"/>
              </a:rPr>
              <a:t>Próximas entregas — Q3 2026: novo checkout (Deeplink) + PBM integrado</a:t>
            </a:r>
            <a:endParaRPr lang="en-US" sz="1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FF4F79-6935-A63B-4811-0C469F44C3EF}"/>
              </a:ext>
            </a:extLst>
          </p:cNvPr>
          <p:cNvSpPr txBox="1"/>
          <p:nvPr/>
        </p:nvSpPr>
        <p:spPr>
          <a:xfrm>
            <a:off x="1270000" y="5969000"/>
            <a:ext cx="965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it-IT" sz="1200">
                <a:solidFill>
                  <a:srgbClr val="00A896"/>
                </a:solidFill>
                <a:latin typeface="Calibri" panose="020F0502020204030204" pitchFamily="34" charset="0"/>
              </a:rPr>
              <a:t>Squad App  ·  Radar E-commerce  ·  Farmarcas</a:t>
            </a:r>
            <a:endParaRPr lang="en-US" sz="1200">
              <a:solidFill>
                <a:srgbClr val="00A896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16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</Words>
  <Application>Microsoft Office PowerPoint</Application>
  <PresentationFormat>Widescreen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Costa Vieira da Silva</dc:creator>
  <cp:lastModifiedBy>Daniel Costa Vieira da Silva</cp:lastModifiedBy>
  <cp:revision>2</cp:revision>
  <dcterms:created xsi:type="dcterms:W3CDTF">2026-07-07T13:49:19Z</dcterms:created>
  <dcterms:modified xsi:type="dcterms:W3CDTF">2026-07-07T13:58:59Z</dcterms:modified>
</cp:coreProperties>
</file>